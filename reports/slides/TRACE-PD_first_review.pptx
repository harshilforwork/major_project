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89" r:id="rId3"/>
    <p:sldId id="258" r:id="rId4"/>
    <p:sldId id="257" r:id="rId5"/>
    <p:sldId id="259" r:id="rId6"/>
    <p:sldId id="260" r:id="rId7"/>
    <p:sldId id="261" r:id="rId8"/>
    <p:sldId id="291" r:id="rId9"/>
    <p:sldId id="293" r:id="rId10"/>
    <p:sldId id="290" r:id="rId11"/>
    <p:sldId id="292" r:id="rId12"/>
    <p:sldId id="264" r:id="rId13"/>
    <p:sldId id="285" r:id="rId14"/>
    <p:sldId id="295" r:id="rId15"/>
    <p:sldId id="2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17DD1-3F49-4A3B-BC8C-6D4372AA712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F5546-6EB6-41C8-8115-AD2AA6596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91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F5546-6EB6-41C8-8115-AD2AA6596C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7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CCD8C-DE63-4511-9DBA-2832EF8A8B2D}" type="datetime1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10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930-9484-4DAF-8A16-209860B0F852}" type="datetime1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827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87EB-4121-426F-B367-F1AFF187AA30}" type="datetime1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8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8B432-7481-43BB-9903-23D5AF53ED6F}" type="datetime1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2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850D-51FF-4344-A4AB-29CCB82B4BC3}" type="datetime1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47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4BE0-2D96-465F-B4F2-CCFE9ECDD27B}" type="datetime1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72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E20D3-235C-4995-98BE-4C1434A841B8}" type="datetime1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85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C63A-1DCC-4B48-8095-B0A6EE28465C}" type="datetime1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78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5957-8AD7-4A5B-AF3D-F833AFDC3A2E}" type="datetime1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10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58FA-2517-44D3-991B-B9DA39B2D78D}" type="datetime1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01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F87BF-9A67-4FDF-890F-017F6FAEA101}" type="datetime1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015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D7E25-F589-4118-86A1-4B971E58ED47}" type="datetime1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7E8F4-8B77-49F1-AB5D-899CD89D1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9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" y="3900000"/>
            <a:ext cx="11643360" cy="1700000"/>
          </a:xfrm>
        </p:spPr>
        <p:txBody>
          <a:bodyPr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IN" dirty="0" sz="1800" b="1">
                <a:latin typeface="Times New Roman"/>
              </a:rPr>
              <a:t>Guide: Dr. Kriti Srivastava</a:t>
            </a:r>
          </a:p>
          <a:p>
            <a:pPr algn="ctr">
              <a:spcAft>
                <a:spcPts val="400"/>
              </a:spcAft>
            </a:pPr>
            <a:r>
              <a:rPr lang="en-IN" sz="1600" dirty="0" b="0">
                <a:latin typeface="Times New Roman"/>
              </a:rPr>
              <a:t>Aishwarya Deshmukh 60009230154</a:t>
            </a:r>
          </a:p>
          <a:p>
            <a:pPr algn="ctr">
              <a:spcAft>
                <a:spcPts val="400"/>
              </a:spcAft>
            </a:pPr>
            <a:r>
              <a:rPr lang="en-IN" sz="1600" dirty="0" b="0">
                <a:latin typeface="Times New Roman"/>
              </a:rPr>
              <a:t>Rutu Mehta 60009240017</a:t>
            </a:r>
          </a:p>
          <a:p>
            <a:pPr algn="ctr">
              <a:spcAft>
                <a:spcPts val="400"/>
              </a:spcAft>
            </a:pPr>
            <a:r>
              <a:rPr lang="en-IN" sz="1600" dirty="0" b="0">
                <a:latin typeface="Times New Roman"/>
              </a:rPr>
              <a:t>Harshil Bhanushali 60009230069</a:t>
            </a:r>
          </a:p>
          <a:p>
            <a:pPr algn="ctr">
              <a:spcAft>
                <a:spcPts val="400"/>
              </a:spcAft>
            </a:pPr>
            <a:endParaRPr lang="en-IN" dirty="0"/>
          </a:p>
        </p:txBody>
      </p:sp>
      <p:pic>
        <p:nvPicPr>
          <p:cNvPr id="4" name="Picture 3" descr="Text&#10;&#10;Description automatically generat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47" y="224473"/>
            <a:ext cx="6316403" cy="8978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180000"/>
            <a:ext cx="11643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IN" dirty="0" sz="1500" b="0">
                <a:latin typeface="Times New Roman"/>
              </a:rPr>
              <a:t>Department of Computer Science and Engineering (Data Science)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2C6841F-EAB7-748E-7629-1421AAEB5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600200"/>
            <a:ext cx="11643360" cy="1000000"/>
          </a:xfrm>
        </p:spPr>
        <p:txBody>
          <a:bodyPr>
            <a:normAutofit/>
          </a:bodyPr>
          <a:lstStyle/>
          <a:p>
            <a:br>
              <a:rPr lang="en-IN" dirty="0"/>
            </a:br>
            <a:pPr algn="ctr">
              <a:spcAft>
                <a:spcPts val="400"/>
              </a:spcAft>
            </a:pPr>
            <a:r>
              <a:rPr lang="en-IN" dirty="0" sz="5400" b="1">
                <a:latin typeface="Times New Roman"/>
              </a:rPr>
              <a:t>TRACE-PD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3CA4A-AE4D-452D-EE19-E6669D2F31C5}"/>
              </a:ext>
            </a:extLst>
          </p:cNvPr>
          <p:cNvSpPr txBox="1"/>
          <p:nvPr/>
        </p:nvSpPr>
        <p:spPr>
          <a:xfrm>
            <a:off x="274320" y="2650000"/>
            <a:ext cx="11643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IN" sz="2400" dirty="0" b="0">
                <a:latin typeface="Times New Roman"/>
              </a:rPr>
              <a:t>Temporal Reasoning and Confidence Explanation for Parkinson's Disease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37331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AD1-8D5A-9DA1-EF69-7D425E29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Parkinsons Disease?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A10CA-92B0-8FCC-CDF0-363EB4205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43000"/>
            <a:ext cx="11643360" cy="2320000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A progressive neurodegenerative disorder that affects movement, caused by the loss of dopamine-producing brain cells. Symptoms worsen over time and vary a lot between patients, most fall into two main types: tremor-dominant (shaking) or postural instability and gait difficulty, PIGD (balance and walking problems).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700" b="1" dirty="0">
                <a:latin typeface="Times New Roman"/>
              </a:rPr>
              <a:t>Why does the subtype matter?</a:t>
            </a:r>
            <a:endParaRPr lang="en-IN" sz="24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PIGD patients decline faster and fall more often than TD patients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PIGD patients respond worse to standard treatment (levodopa, DBS)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Knowing the subtype earlier changes how closely a patient should be monitored and treated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A0A5-12E1-1415-613B-30679BBA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38BB0-28EC-7C67-B7C4-1743D0E97B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848"/>
          <a:stretch>
            <a:fillRect/>
          </a:stretch>
        </p:blipFill>
        <p:spPr>
          <a:xfrm>
            <a:off x="304800" y="3606043"/>
            <a:ext cx="5505751" cy="31980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C1D82C-D7EB-B954-56FB-E7B9426E8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" t="55354" r="1915"/>
          <a:stretch>
            <a:fillRect/>
          </a:stretch>
        </p:blipFill>
        <p:spPr>
          <a:xfrm>
            <a:off x="5996052" y="3659978"/>
            <a:ext cx="6071258" cy="319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9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E14F-9FD0-AB73-C6CB-16A0E21E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FC361-B125-D338-E287-E2BEBF63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43000"/>
            <a:ext cx="6700000" cy="5349240"/>
          </a:xfrm>
        </p:spPr>
        <p:txBody>
          <a:bodyPr wrap="square">
            <a:normAutofit fontScale="47500" lnSpcReduction="2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900" b="1" dirty="0">
                <a:latin typeface="Times New Roman"/>
              </a:rPr>
              <a:t>Issues:</a:t>
            </a:r>
            <a:endParaRPr lang="en-US" sz="59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Doctors need 6-7+ visits over a year or more to confidently confirm a patient's motor subtype (TD vs. PIGD)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A third to half of patients get reclassified within 1-2 years, so even that confirmed label isn't stable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Fast-declining PIGD patients may be treated as milder TD cases during this delay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In India, diagnosis is often symptom-based, with limited access to movement-disorder specialists, worsening the delay</a:t>
            </a:r>
          </a:p>
          <a:p>
            <a:endParaRPr lang="en-US" sz="20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900" b="1" dirty="0">
                <a:latin typeface="Times New Roman"/>
              </a:rPr>
              <a:t>Solution:</a:t>
            </a:r>
            <a:endParaRPr lang="en-IN" sz="59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ML classifier (</a:t>
            </a:r>
            <a:r>
              <a:rPr lang="en-IN" sz="1350" dirty="0" err="1">
                <a:latin typeface="Times New Roman"/>
              </a:rPr>
              <a:t>XGBoost</a:t>
            </a:r>
            <a:r>
              <a:rPr lang="en-IN" sz="1350" dirty="0">
                <a:latin typeface="Times New Roman"/>
              </a:rPr>
              <a:t>) trained on routine clinical visit data to predict TD/PIGD/indeterminate subtype earlier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Conformal prediction layer to attach a calibrated, statistically guaranteed confidence score to each prediction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Longitudinal tracking across visits to flag when a patient's classification is unstable or likely to shift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/>
              </a:rPr>
              <a:t>Custom explainability layer that shows which specific clinical changes drove a shift in confidence between visits, not just which features mattered at one snapshot in time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9740C-57D5-47C9-A4D7-6426F144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CBB13-4BD1-392A-DCDB-E80FDD1CD7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33" b="5183"/>
          <a:stretch>
            <a:fillRect/>
          </a:stretch>
        </p:blipFill>
        <p:spPr>
          <a:xfrm>
            <a:off x="7693860" y="1900000"/>
            <a:ext cx="3712279" cy="435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9B8F08-2CF5-75DE-8EC5-6A4FA2BB54F0}"/>
              </a:ext>
            </a:extLst>
          </p:cNvPr>
          <p:cNvSpPr txBox="1"/>
          <p:nvPr/>
        </p:nvSpPr>
        <p:spPr>
          <a:xfrm>
            <a:off x="7200000" y="1200000"/>
            <a:ext cx="4700000" cy="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  <a:p>
            <a:r>
              <a:rPr lang="en-US" sz="2800" b="1" dirty="0"/>
              <a:t>Impact:</a:t>
            </a:r>
            <a:endParaRPr lang="en-US" sz="28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6060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/>
          <a:lstStyle/>
          <a:p>
            <a:pPr algn="ctr"/>
            <a:r>
              <a:rPr lang="en-IN" dirty="0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43000"/>
            <a:ext cx="11643360" cy="5349240"/>
          </a:xfrm>
        </p:spPr>
        <p:txBody>
          <a:bodyPr wrap="square">
            <a:normAutofit fontScale="55000" lnSpcReduction="2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700" b="1" dirty="0">
                <a:latin typeface="Times New Roman"/>
              </a:rPr>
              <a:t>What is TRACE-PD?</a:t>
            </a:r>
            <a:br>
              <a:rPr lang="en-IN" dirty="0"/>
            </a:br>
            <a:r>
              <a:rPr lang="en-IN" sz="1250" b="0" dirty="0">
                <a:latin typeface="Times New Roman"/>
              </a:rPr>
              <a:t>An ML-powered clinical decision-support framework built to predict a Parkinson's patient's motor subtype and tell doctors how much to trust that prediction, using established clinical criteria, calibrated uncertainty quantification, and longitudinal visit tracking.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700" b="1" dirty="0">
                <a:latin typeface="Times New Roman"/>
              </a:rPr>
              <a:t>Why Use It?</a:t>
            </a:r>
            <a:endParaRPr lang="en-IN" sz="45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Earlier Confidence</a:t>
            </a:r>
            <a:r>
              <a:rPr lang="en-IN" dirty="0" sz="1250">
                <a:latin typeface="Times New Roman"/>
              </a:rPr>
              <a:t> — Predicts TD/PIGD/indeterminate subtype using fewer visits than traditional clinical judgment alone.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Calibrated Trust</a:t>
            </a:r>
            <a:r>
              <a:rPr lang="en-IN" dirty="0" sz="1250">
                <a:latin typeface="Times New Roman"/>
              </a:rPr>
              <a:t> — Every prediction comes with a statistically guaranteed confidence score, not a raw guess.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Stability Tracking</a:t>
            </a:r>
            <a:r>
              <a:rPr lang="en-IN" dirty="0" sz="1250">
                <a:latin typeface="Times New Roman"/>
              </a:rPr>
              <a:t> — Flags patients whose classification is likely to shift before it actually does.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Transparent Reasoning</a:t>
            </a:r>
            <a:r>
              <a:rPr lang="en-IN" dirty="0" sz="1250">
                <a:latin typeface="Times New Roman"/>
              </a:rPr>
              <a:t> — Explains which specific clinical changes are driving each prediction, in plain language.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700" b="1" dirty="0">
                <a:latin typeface="Times New Roman"/>
              </a:rPr>
              <a:t>Key Benefits</a:t>
            </a:r>
            <a:endParaRPr lang="en-IN" sz="45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Established Ground Truth</a:t>
            </a:r>
            <a:r>
              <a:rPr lang="en-IN" dirty="0" sz="1250">
                <a:latin typeface="Times New Roman"/>
              </a:rPr>
              <a:t> — Built on the published Jankovic/Stebbins formula, no new clinical validation needed.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Visit-by-Visit Confidence</a:t>
            </a:r>
            <a:r>
              <a:rPr lang="en-IN" dirty="0" sz="1250">
                <a:latin typeface="Times New Roman"/>
              </a:rPr>
              <a:t> — Tracks how sure the model is over time, not just at one snapshot.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Delta Explainability</a:t>
            </a:r>
            <a:r>
              <a:rPr lang="en-IN" dirty="0" sz="1250">
                <a:latin typeface="Times New Roman"/>
              </a:rPr>
              <a:t> — Shows what changed between visits and why confidence shifted.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Clinician-Ready Output</a:t>
            </a:r>
            <a:r>
              <a:rPr lang="en-IN" dirty="0" sz="1250">
                <a:latin typeface="Times New Roman"/>
              </a:rPr>
              <a:t> — Plain-language report per patient: subtype, confidence, trend, and reasoning.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b="1" dirty="0" sz="1250">
                <a:latin typeface="Times New Roman"/>
              </a:rPr>
              <a:t>Fills a Real Gap</a:t>
            </a:r>
            <a:r>
              <a:rPr lang="en-IN" dirty="0" sz="1250">
                <a:latin typeface="Times New Roman"/>
              </a:rPr>
              <a:t> — No existing system combines subtype prediction, calibrated confidence, and explainability in one framework.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63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F0EF4-55C0-F234-8B8A-15C2AF88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5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134CAE-FE78-982B-BABE-6B23EA34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it-IT" dirty="0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(1 / 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3EF5C1-45F8-02F2-EBE7-EE26C8263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444239"/>
              </p:ext>
            </p:extLst>
          </p:nvPr>
        </p:nvGraphicFramePr>
        <p:xfrm>
          <a:off x="274320" y="1143000"/>
          <a:ext cx="11643360" cy="59105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955471">
                  <a:extLst>
                    <a:ext uri="{9D8B030D-6E8A-4147-A177-3AD203B41FA5}">
                      <a16:colId xmlns:a16="http://schemas.microsoft.com/office/drawing/2014/main" val="1379549835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1352320948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3689502789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1935169226"/>
                    </a:ext>
                  </a:extLst>
                </a:gridCol>
              </a:tblGrid>
              <a:tr h="483613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87371"/>
                  </a:ext>
                </a:extLst>
              </a:tr>
              <a:tr h="1160397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CASCADE: Conformal Prediction for Two-Stage Clinical Decision Support in PD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(2026)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Two-stage conformal prediction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Screening classifier + dosage regression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Medication dosing (LEDD) forecasting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Propagates calibrated uncertainty across stages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Statistically guaranteed coverage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First conformal application to a PD outcome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Applied to medication dosing, not subtype classification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Single-visit framing, no longitudinal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87155"/>
                  </a:ext>
                </a:extLst>
              </a:tr>
              <a:tr h="1250504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7T Quantitative MRI and ML for Motor Subtype Stratification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(2026)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Ultra-high-field 7T MRI features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Multiple classifiers (KNN, SVM, RF, XGBoost)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HC vs. PIGD vs. TD classification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Very high-resolution imaging features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Tests multiple algorithms for robustness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Only moderate accuracy (~0.62)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Exploratory; no uncertainty calibration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No longitudinal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122679"/>
                  </a:ext>
                </a:extLst>
              </a:tr>
              <a:tr h="148315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Understanding Clinical Reasoning Variability in Medical LLMs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(Jan 2026)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Mechanistic interpretability analysis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Prompt-format sensitivity testing across medical LLMs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Reveals hidden reliability gaps in LLM clinical reasoning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Informs safer LLM deployment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Accuracy can shift &gt;50% based on prompt format alone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Models can sound confident with insufficient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976575"/>
                  </a:ext>
                </a:extLst>
              </a:tr>
              <a:tr h="13826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Enhancing LLM Clinical Support with ML Risk and SHAP Explainability (ICU)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(2026)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XGBoost mortality-risk prediction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SHAP feature attribution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GPT-4o for bedside explanation generation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Combines validated ML signal with readable LLM explanation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Demonstrates ML-to-SHAP-to-LLM pipeline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Applied to ICU mortality, not PD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No uncertainty/confidence component built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988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45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5DD4-4C65-93E4-0225-0B8ACB02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58D9A-9505-D5A9-DC96-0170BDF1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6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B8CE3B-DB20-33D3-60C6-23E5AC78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it-IT" dirty="0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(2 / 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6EC78D-3E79-15FB-204E-DD6E64A19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875420"/>
              </p:ext>
            </p:extLst>
          </p:nvPr>
        </p:nvGraphicFramePr>
        <p:xfrm>
          <a:off x="274320" y="1143000"/>
          <a:ext cx="11643360" cy="468164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955471">
                  <a:extLst>
                    <a:ext uri="{9D8B030D-6E8A-4147-A177-3AD203B41FA5}">
                      <a16:colId xmlns:a16="http://schemas.microsoft.com/office/drawing/2014/main" val="1379549835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1352320948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3689502789"/>
                    </a:ext>
                  </a:extLst>
                </a:gridCol>
                <a:gridCol w="2955471">
                  <a:extLst>
                    <a:ext uri="{9D8B030D-6E8A-4147-A177-3AD203B41FA5}">
                      <a16:colId xmlns:a16="http://schemas.microsoft.com/office/drawing/2014/main" val="1935169226"/>
                    </a:ext>
                  </a:extLst>
                </a:gridCol>
              </a:tblGrid>
              <a:tr h="483613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87371"/>
                  </a:ext>
                </a:extLst>
              </a:tr>
              <a:tr h="1160397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Conformal Prediction for Disease-Course Prediction in Multiple Sclerosis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Conformal prediction for individualized diagnostic uncertainty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Disease-course classification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Calibrated, patient-specific confidence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Prediction-set size reflects model certainty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Applied to MS, not PD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No stability or transition-risk framing across visits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87155"/>
                  </a:ext>
                </a:extLst>
              </a:tr>
              <a:tr h="1250504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Automatic Differentiation of PD Motor Subtypes via Deep Learning and Radiomics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MRI radiomic features from 8 brain nuclei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Five ML classifiers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PPMI cohort (135 patients: 92 TD, 43 PIGD)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Directly targets TD/PIGD classification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Tests multiple classifiers for comparison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Same-visit imaging only, not earlier prediction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No calibrated confidence reported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Imaging not routinely available every visit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122679"/>
                  </a:ext>
                </a:extLst>
              </a:tr>
              <a:tr h="148315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Conformal Bands for Biomarker Trajectories in Alzheimer's/MCI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(Nov 2025)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Group-conditional conformal prediction bands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Irregularly-timed longitudinal biomarker visits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Flags high-risk patients earlier than standard scores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latin typeface="Times New Roman"/>
                        </a:rPr>
                        <a:t>Handles irregular visit timing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0" dirty="0">
                          <a:latin typeface="Times New Roman"/>
                        </a:rPr>
                        <a:t>Applied to Alzheimer's, not PD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dirty="0">
                          <a:latin typeface="Times New Roman"/>
                        </a:rPr>
                        <a:t>Predicts a continuous biomarker, not a discrete subtype label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976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88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A77C-917A-7224-5969-467DA6BF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/>
          <a:lstStyle/>
          <a:p>
            <a:pPr algn="ctr"/>
            <a:r>
              <a:rPr lang="en-IN" dirty="0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Gaps in Existing Systems  →  How We Solve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C48B-122E-47A4-D823-B0C89BB7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43000"/>
            <a:ext cx="5680000" cy="53492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500" b="1" dirty="0">
                <a:latin typeface="Times New Roman"/>
              </a:rPr>
              <a:t>Imaging-Dependent Classification</a:t>
            </a:r>
            <a:endParaRPr lang="en-IN" sz="21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Most ML approaches to TD/PIGD classification rely on MRI or </a:t>
            </a:r>
            <a:r>
              <a:rPr lang="en-IN" sz="1300" dirty="0" err="1">
                <a:latin typeface="Times New Roman"/>
              </a:rPr>
              <a:t>DaTscan</a:t>
            </a:r>
            <a:r>
              <a:rPr lang="en-IN" sz="1300" dirty="0">
                <a:latin typeface="Times New Roman"/>
              </a:rPr>
              <a:t> imaging, which isn't routinely collected at every clinical visit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500" b="1" dirty="0">
                <a:latin typeface="Times New Roman"/>
              </a:rPr>
              <a:t>No Calibrated Confidence</a:t>
            </a:r>
            <a:endParaRPr lang="en-IN" sz="21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Existing subtype classifiers report only accuracy or AUC, giving no per-patient measure of how much to trust a given prediction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500" b="1" dirty="0">
                <a:latin typeface="Times New Roman"/>
              </a:rPr>
              <a:t>Self-Derived, Unvalidated Subtypes</a:t>
            </a:r>
            <a:endParaRPr lang="en-IN" sz="21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Data-driven clustering approaches invent new progression categories that require independent clinical validation before they can be trusted as ground truth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500" b="1" dirty="0">
                <a:latin typeface="Times New Roman"/>
              </a:rPr>
              <a:t>Static, Single-Visit Framing</a:t>
            </a:r>
            <a:endParaRPr lang="en-IN" sz="21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Every existing subtype study evaluates one snapshot in time, despite published evidence that a third to half of patients get reclassified within 1-2 years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500" b="1" dirty="0">
                <a:latin typeface="Times New Roman"/>
              </a:rPr>
              <a:t>No Explainability for Uncertainty</a:t>
            </a:r>
            <a:endParaRPr lang="en-IN" sz="2100" dirty="0"/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Standard explainability tools (SHAP, LIME) explain a single prediction, not why a model's confidence changed, or is likely to change, over time</a:t>
            </a:r>
            <a:endParaRPr lang="en-US" dirty="0"/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11D7B-2E63-F712-E960-FB06EA39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7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27FB44-B3BD-7C75-3C3C-CBC5CBA0636D}"/>
              </a:ext>
            </a:extLst>
          </p:cNvPr>
          <p:cNvSpPr txBox="1">
            <a:spLocks/>
          </p:cNvSpPr>
          <p:nvPr/>
        </p:nvSpPr>
        <p:spPr>
          <a:xfrm>
            <a:off x="6240000" y="1143000"/>
            <a:ext cx="5680000" cy="5349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wrap="square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Uses </a:t>
            </a:r>
            <a:r>
              <a:rPr lang="en-IN" sz="1300" b="1" dirty="0">
                <a:latin typeface="Times New Roman"/>
              </a:rPr>
              <a:t>routine clinical exam data</a:t>
            </a:r>
            <a:r>
              <a:rPr lang="en-IN" sz="1300" dirty="0">
                <a:latin typeface="Times New Roman"/>
              </a:rPr>
              <a:t> (motor, cognitive, autonomic scores) already collected every visit, no imaging dependency.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Applies </a:t>
            </a:r>
            <a:r>
              <a:rPr lang="en-IN" sz="1300" b="1" dirty="0">
                <a:latin typeface="Times New Roman"/>
              </a:rPr>
              <a:t>conformal prediction</a:t>
            </a:r>
            <a:r>
              <a:rPr lang="en-IN" sz="1300" dirty="0">
                <a:latin typeface="Times New Roman"/>
              </a:rPr>
              <a:t> to attach a statistically calibrated confidence score to every prediction, not just a raw label.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Anchors ground truth to the </a:t>
            </a:r>
            <a:r>
              <a:rPr lang="en-IN" sz="1300" b="1" dirty="0">
                <a:latin typeface="Times New Roman"/>
              </a:rPr>
              <a:t>established Jankovic/Stebbins TD/PIGD formula</a:t>
            </a:r>
            <a:r>
              <a:rPr lang="en-IN" sz="1300" dirty="0">
                <a:latin typeface="Times New Roman"/>
              </a:rPr>
              <a:t>, published and peer-reviewed, requiring no new clinical validation.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Tracks predictions </a:t>
            </a:r>
            <a:r>
              <a:rPr lang="en-IN" sz="1300" b="1" dirty="0">
                <a:latin typeface="Times New Roman"/>
              </a:rPr>
              <a:t>across a patient's full visit history</a:t>
            </a:r>
            <a:r>
              <a:rPr lang="en-IN" sz="1300" dirty="0">
                <a:latin typeface="Times New Roman"/>
              </a:rPr>
              <a:t>, computing a confidence curve and stability index to flag when a label is likely to shift.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IN" sz="1300" dirty="0">
                <a:latin typeface="Times New Roman"/>
              </a:rPr>
              <a:t>Introduces a </a:t>
            </a:r>
            <a:r>
              <a:rPr lang="en-IN" sz="1300" b="1" dirty="0">
                <a:latin typeface="Times New Roman"/>
              </a:rPr>
              <a:t>custom delta-attribution explainability layer</a:t>
            </a:r>
            <a:r>
              <a:rPr lang="en-IN" sz="1300" dirty="0">
                <a:latin typeface="Times New Roman"/>
              </a:rPr>
              <a:t>, extending existing conformal-aware attribution methods to show which specific clinical changes drove a shift in confidence between visits, not just which features mattered once.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483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CDA4-3CE0-738F-B7EC-427DA339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 fontScale="90000"/>
          </a:bodyPr>
          <a:lstStyle/>
          <a:p>
            <a:pPr algn="ctr"/>
            <a:r>
              <a:rPr lang="en-IN" dirty="0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F883E-1324-BEBF-6809-2D732184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" y="1143000"/>
            <a:ext cx="5680000" cy="5349240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&amp; Cohort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PPMI data via LONI IDA — extract dated 16 Aug 2026; no new patient data collected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Cohort: PPMI PD cohort (COHORT == 1) → 439 patients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 sporadic PD, 197 genetic-cohort PD (LRRK2 / GBA / SNCA enriched by recruitment design)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 Source Tables Merged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visit-level tables — outer join on PATNO + EVENT_ID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static per-patient tables — left join on PATNO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medication logs — joined by date interval, not visit code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deterministic preprocessing script, no random seeds — same extract reproduces byte-for-byte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700F3-A087-8B75-CC8D-4BE0FB05C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00" y="1143000"/>
            <a:ext cx="5680000" cy="5349240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ppmi_tdpigd_long.csv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long format, 75 columns, one row per patient-visit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Dictionary-driven roles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every column’s role (feature / label / excluded) is assigned programmatically, not chosen by hand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Definition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Tremor score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mean of 11 items; 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PIGD score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mean of 5 items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= Tremor / PIGD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≥1.15 = TD, ≤0.90 = PIGD, else Indeterminate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mismatches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5,638 labeled rows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every label was independently recomputed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90186-50F0-3470-A1CA-94248EF6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31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C2A5-F024-1A91-A61C-06B7CAAD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/>
          <a:lstStyle/>
          <a:p>
            <a:pPr algn="ctr"/>
            <a:r>
              <a:rPr lang="en-IN" dirty="0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AA126-EE53-31E6-B2B2-72E6F2D0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9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636E51-48D6-98DE-B768-32F20A48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55" y="1263000"/>
            <a:ext cx="7649490" cy="4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6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B19F-6F3B-4097-087F-080AEC72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/>
          <a:lstStyle/>
          <a:p>
            <a:pPr algn="ctr"/>
            <a:r>
              <a:rPr lang="en-IN" dirty="0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93C15-4A53-BC7B-4FF3-EA5E3521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3A772-2A87-5033-4AF1-9EA1175EBC5D}"/>
              </a:ext>
            </a:extLst>
          </p:cNvPr>
          <p:cNvSpPr txBox="1"/>
          <p:nvPr/>
        </p:nvSpPr>
        <p:spPr>
          <a:xfrm>
            <a:off x="274320" y="4450000"/>
            <a:ext cx="1164336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b="1" dirty="0" sz="1400">
                <a:latin typeface="Times New Roman"/>
              </a:rPr>
              <a:t>Funnel:</a:t>
            </a:r>
            <a:r>
              <a:rPr lang="en-IN" dirty="0" sz="1400">
                <a:latin typeface="Times New Roman"/>
              </a:rPr>
              <a:t> 439 patients → visits joined → 5,638 labeled visit-rows (18.5% unlabeled</a:t>
            </a:r>
            <a:r>
              <a:rPr lang="en-IN" dirty="0" err="1" sz="1400">
                <a:latin typeface="Times New Roman"/>
              </a:rPr>
              <a:t/>
            </a:r>
            <a:r>
              <a:rPr lang="en-IN" dirty="0" sz="1400">
                <a:latin typeface="Times New Roman"/>
              </a:rPr>
              <a:t/>
            </a:r>
            <a:r>
              <a:rPr lang="en-IN" dirty="0" err="1" sz="1400">
                <a:latin typeface="Times New Roman"/>
              </a:rPr>
              <a:t/>
            </a:r>
            <a:r>
              <a:rPr lang="en-IN" dirty="0" sz="1400">
                <a:latin typeface="Times New Roman"/>
              </a:rPr>
              <a:t>, concentrated at later visits)</a:t>
            </a:r>
          </a:p>
          <a:p>
            <a:pPr marL="342900" lvl="0" indent="-342900" rtl="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b="1" dirty="0" sz="1400">
                <a:latin typeface="Times New Roman"/>
              </a:rPr>
              <a:t>Class balance (visit-level):</a:t>
            </a:r>
            <a:r>
              <a:rPr lang="en-IN" dirty="0" sz="1400">
                <a:latin typeface="Times New Roman"/>
              </a:rPr>
              <a:t> TD 53.5% / PIGD 35.5% / Indeterminate 11.0%</a:t>
            </a:r>
          </a:p>
          <a:p>
            <a:pPr marL="342900" lvl="0" indent="-342900" rtl="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b="1" dirty="0" sz="1400">
                <a:latin typeface="Times New Roman"/>
              </a:rPr>
              <a:t>Instability:</a:t>
            </a:r>
            <a:r>
              <a:rPr lang="en-IN" dirty="0" sz="1400">
                <a:latin typeface="Times New Roman"/>
              </a:rPr>
              <a:t> 344 of 439 patients (78.4%)</a:t>
            </a:r>
            <a:r>
              <a:rPr lang="en-IN" b="1" dirty="0" sz="1400">
                <a:latin typeface="Times New Roman"/>
              </a:rPr>
              <a:t/>
            </a:r>
            <a:r>
              <a:rPr lang="en-IN" dirty="0" sz="1400">
                <a:latin typeface="Times New Roman"/>
              </a:rPr>
              <a:t> change label at least once across visits — corroborates the 33–50% reclassification range reported in the literature; Indeterminate is the least stable class</a:t>
            </a:r>
          </a:p>
        </p:txBody>
      </p:sp>
      <p:pic>
        <p:nvPicPr>
          <p:cNvPr id="8" name="Picture 7" descr="fig_cohort_lab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0" y="1133718"/>
            <a:ext cx="9800000" cy="31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3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5689-9DEA-7D21-6A17-5D4C6FCB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8F67-74E6-5C18-A331-394F2DA1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 fontScale="90000"/>
          </a:bodyPr>
          <a:lstStyle/>
          <a:p>
            <a:pPr algn="ctr"/>
            <a:r>
              <a:rPr lang="en-IN" dirty="0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Deriving the Label: Jankovic / Stebbins Formula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B1A5-C396-878A-9EEE-9437EB404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" y="1143000"/>
            <a:ext cx="5680000" cy="5349240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Formula Comes From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Jankovic et al. (1990) — original ratio-based split, derived from the DATATOP cohort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Stebbins et al. (2013) — re-derived and validated for the modern MDS-UPDRS scale used in PPMI and most current PD registries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Tremor Score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of 11 items — 1 Part II (patient-reported) + 10 Part III (examiner-scored resting, postural &amp; kinetic tremor)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PIGD Score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of 5 items — 2 Part II (gait, freezing) + 3 Part III (gait, freezing of gait, postural stability)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DF2FC4-C227-ABB4-87E8-490424972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00" y="1143000"/>
            <a:ext cx="5680000" cy="5349240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Rule: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fontAlgn="base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= Tremor score / PIGD score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≥ 1.15  →  TD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≤ 0.90  →  PIGD</a:t>
            </a: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0.90 &lt; ratio &lt; 1.15  →  Indeterminate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PIGD score = 0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TD if tremor &gt; 0, else Indeterminate (845 rows, 15.0% of labeled rows)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 rule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label only assigned when all 16 items are present (18.5% of visit-rows remain unlabeled)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0000"/>
              </a:lnSpc>
              <a:spcAft>
                <a:spcPts val="400"/>
              </a:spcAft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mismatches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every label independently recomputed from its two component scores across all 5,638 labeled rows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7314D-7237-C004-5E65-AC2FEACE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33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CD68-1ADC-EF2C-8D1B-06C57701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C84E-2C1A-3BAA-5D8B-E854335D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IN" dirty="0" sz="30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&amp; User 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3D41-3DEE-C876-1B53-7C00F4C79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43000"/>
            <a:ext cx="11643360" cy="5349240"/>
          </a:xfrm>
        </p:spPr>
        <p:txBody>
          <a:bodyPr wrap="square">
            <a:noAutofit/>
          </a:bodyPr>
          <a:lstStyle/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&amp; Join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 PPMI source tables are pulled from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LONI IDA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joined on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PATNO + EVENT_ID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medication logs merged by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date-interval join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key join) to attach the correct LEDD to each visit.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Feature Governance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Cohort is restricted to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COHORT == 1 (439 patients)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producing a curated dataset of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6,922 visits × 75 columns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structural missingness and visit-level duplicates resolved.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Engine (Stebbins Ratio)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Ground truth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computed deterministically from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tremor items and 5 PIGD items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published ratio: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if ≥ 1.15, PIGD if ≤ 0.90, Indeterminate in between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Guard (Policy Gate)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machine-enforced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registry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splits every column into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permitted X / label-defining Y / banned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asserts at runtime that none of the 16 Y-defining items reach the model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Calibration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 </a:t>
            </a:r>
            <a:r>
              <a:rPr lang="en-IN" sz="12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trained with </a:t>
            </a:r>
            <a:r>
              <a:rPr lang="en-IN" sz="12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StratifiedGroupKFold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grouped by PATNO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(≈16 visits per patient), preventing the same patient from appearing in both train and test folds.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Conformal Confidence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Raw probabilities are converted into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prediction sets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MAPIE (APS method)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target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 coverage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 system can say </a:t>
            </a:r>
            <a:r>
              <a:rPr lang="en-IN" sz="12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"TD or Indeterminate"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forcing a single guess.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Tracking &amp; Transition Risk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Per-visit predictions are written to a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 store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producing a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subtype trajectory, label stability score, and flip risk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patient is drifting from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toward PIGD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Orchestrator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grounded strictly in model outputs and the feature registry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turns the prediction set, drivers, and stability signal into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clinician-readable justification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free-form clinical claims.</a:t>
            </a:r>
          </a:p>
          <a:p>
            <a:pPr lvl="0">
              <a:lnSpc>
                <a:spcPct val="100000"/>
              </a:lnSpc>
              <a:spcAft>
                <a:spcPts val="400"/>
              </a:spcAft>
            </a:pP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Generation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Produces a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clinician-facing report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predicted subtype, confidence set, contributing features, trajectory chart, and an explicit </a:t>
            </a:r>
            <a:r>
              <a:rPr lang="en-IN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trail of which columns were and were not used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664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DF02E-8B3A-D10A-AF48-09D81FC2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13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217D3D-EAD8-CCCD-3111-E62ADFFA6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IN" dirty="0" sz="32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8A2C2-C813-3289-1F22-40E7139C6B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327" y="1160000"/>
            <a:ext cx="6845345" cy="52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5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482B-7A05-CFF5-14A4-BA1FD757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759C6-0C6C-7D51-A56A-E64AEB85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E8F4-8B77-49F1-AB5D-899CD89D111D}" type="slidenum">
              <a:rPr lang="en-IN" smtClean="0"/>
              <a:t>14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18C7E2D-F1F5-A4D8-6628-311DFAF6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82880"/>
            <a:ext cx="11643360" cy="8382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IN" dirty="0" sz="32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99363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550000"/>
            <a:ext cx="1164336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650000"/>
            <a:ext cx="1164336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latin typeface="Times New Roman"/>
              </a:rPr>
              <a:t>TRACE-PD  —  Temporal Reasoning and Confidence Explanation for Parkinson's Disease</a:t>
            </a:r>
          </a:p>
          <a:p>
            <a:pPr algn="ctr">
              <a:spcAft>
                <a:spcPts val="400"/>
              </a:spcAft>
            </a:pPr>
            <a:r>
              <a:rPr sz="1400">
                <a:latin typeface="Times New Roman"/>
              </a:rPr>
              <a:t>Aishwarya Deshmukh  ·  Rutu Mehta  ·  Harshil Bhanushali</a:t>
            </a:r>
          </a:p>
          <a:p>
            <a:pPr algn="ctr">
              <a:spcAft>
                <a:spcPts val="400"/>
              </a:spcAft>
            </a:pPr>
            <a:r>
              <a:rPr sz="1400">
                <a:latin typeface="Times New Roman"/>
              </a:rPr>
              <a:t>Guide: Dr. Kriti Srivastava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2008</Words>
  <Application>Microsoft Office PowerPoint</Application>
  <PresentationFormat>Widescreen</PresentationFormat>
  <Paragraphs>200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 TRACE-PD</vt:lpstr>
      <vt:lpstr>What is Parkinsons Disease?</vt:lpstr>
      <vt:lpstr>The Problem Definition:</vt:lpstr>
      <vt:lpstr>Introduction to our Solution</vt:lpstr>
      <vt:lpstr>Literature Review - AI Compliance Checks</vt:lpstr>
      <vt:lpstr>Literature Review - AI Compliance Checks</vt:lpstr>
      <vt:lpstr>Gaps in existing systems  How we solve them</vt:lpstr>
      <vt:lpstr>Data Description</vt:lpstr>
      <vt:lpstr>Data Description</vt:lpstr>
      <vt:lpstr>Data Analysis </vt:lpstr>
      <vt:lpstr>Deriving the Label: Jankovic / Stebbins Formula</vt:lpstr>
      <vt:lpstr>System Architecture &amp; User Workflow</vt:lpstr>
      <vt:lpstr>Proposed Solution</vt:lpstr>
      <vt:lpstr>References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Kriti Srivastava</dc:creator>
  <cp:lastModifiedBy>HARSHIL BHANUSHALI - 60009230069</cp:lastModifiedBy>
  <cp:revision>22</cp:revision>
  <dcterms:created xsi:type="dcterms:W3CDTF">2023-04-12T07:45:49Z</dcterms:created>
  <dcterms:modified xsi:type="dcterms:W3CDTF">2026-09-12T03:16:42Z</dcterms:modified>
</cp:coreProperties>
</file>